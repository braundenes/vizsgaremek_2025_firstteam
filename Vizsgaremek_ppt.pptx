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2"/>
  </p:notesMasterIdLst>
  <p:sldIdLst>
    <p:sldId id="256" r:id="rId2"/>
    <p:sldId id="258" r:id="rId3"/>
    <p:sldId id="297" r:id="rId4"/>
    <p:sldId id="298" r:id="rId5"/>
    <p:sldId id="299" r:id="rId6"/>
    <p:sldId id="264" r:id="rId7"/>
    <p:sldId id="259" r:id="rId8"/>
    <p:sldId id="260" r:id="rId9"/>
    <p:sldId id="296" r:id="rId10"/>
    <p:sldId id="300" r:id="rId11"/>
    <p:sldId id="306" r:id="rId12"/>
    <p:sldId id="307" r:id="rId13"/>
    <p:sldId id="308" r:id="rId14"/>
    <p:sldId id="301" r:id="rId15"/>
    <p:sldId id="302" r:id="rId16"/>
    <p:sldId id="303" r:id="rId17"/>
    <p:sldId id="305" r:id="rId18"/>
    <p:sldId id="304" r:id="rId19"/>
    <p:sldId id="321" r:id="rId20"/>
    <p:sldId id="322" r:id="rId21"/>
    <p:sldId id="323" r:id="rId22"/>
    <p:sldId id="324" r:id="rId23"/>
    <p:sldId id="325" r:id="rId24"/>
    <p:sldId id="326" r:id="rId25"/>
    <p:sldId id="327" r:id="rId26"/>
    <p:sldId id="329" r:id="rId27"/>
    <p:sldId id="330" r:id="rId28"/>
    <p:sldId id="331" r:id="rId29"/>
    <p:sldId id="332" r:id="rId30"/>
    <p:sldId id="333" r:id="rId31"/>
    <p:sldId id="334" r:id="rId32"/>
    <p:sldId id="335" r:id="rId33"/>
    <p:sldId id="336" r:id="rId34"/>
    <p:sldId id="337" r:id="rId35"/>
    <p:sldId id="338" r:id="rId36"/>
    <p:sldId id="339" r:id="rId37"/>
    <p:sldId id="340" r:id="rId38"/>
    <p:sldId id="341" r:id="rId39"/>
    <p:sldId id="342" r:id="rId40"/>
    <p:sldId id="343" r:id="rId41"/>
  </p:sldIdLst>
  <p:sldSz cx="9144000" cy="5143500" type="screen16x9"/>
  <p:notesSz cx="6858000" cy="9144000"/>
  <p:embeddedFontLst>
    <p:embeddedFont>
      <p:font typeface="Anaheim" panose="020B0604020202020204" charset="-18"/>
      <p:regular r:id="rId43"/>
      <p:bold r:id="rId44"/>
    </p:embeddedFont>
    <p:embeddedFont>
      <p:font typeface="Cairo" panose="020B0604020202020204" charset="-78"/>
      <p:regular r:id="rId45"/>
      <p:bold r:id="rId46"/>
    </p:embeddedFont>
    <p:embeddedFont>
      <p:font typeface="Nunito Light" pitchFamily="2" charset="-18"/>
      <p:regular r:id="rId47"/>
      <p:italic r:id="rId48"/>
    </p:embeddedFont>
    <p:embeddedFont>
      <p:font typeface="Open Sans" panose="020B0606030504020204" pitchFamily="34" charset="0"/>
      <p:regular r:id="rId49"/>
      <p:bold r:id="rId50"/>
      <p:italic r:id="rId51"/>
      <p:boldItalic r:id="rId52"/>
    </p:embeddedFont>
    <p:embeddedFont>
      <p:font typeface="Raleway" pitchFamily="2" charset="-18"/>
      <p:regular r:id="rId53"/>
      <p:bold r:id="rId54"/>
      <p:italic r:id="rId55"/>
      <p:boldItalic r:id="rId56"/>
    </p:embeddedFont>
    <p:embeddedFont>
      <p:font typeface="Space Grotesk" panose="020B0604020202020204" charset="-18"/>
      <p:regular r:id="rId57"/>
      <p:bold r:id="rId58"/>
    </p:embeddedFont>
    <p:embeddedFont>
      <p:font typeface="Space Grotesk Medium" panose="020B0604020202020204" charset="-18"/>
      <p:regular r:id="rId59"/>
      <p:bold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702415-7A8A-4C0A-9293-7ABEEB455ADE}" v="21" dt="2026-05-01T10:20:25.739"/>
  </p1510:revLst>
</p1510:revInfo>
</file>

<file path=ppt/tableStyles.xml><?xml version="1.0" encoding="utf-8"?>
<a:tblStyleLst xmlns:a="http://schemas.openxmlformats.org/drawingml/2006/main" def="{EA2DB825-3765-4119-8AAE-AA9EF05FCD05}">
  <a:tblStyle styleId="{EA2DB825-3765-4119-8AAE-AA9EF05FCD0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EA0FF39-183A-48A0-943C-5F7EB11CAE0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96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4E8BDC1-E92E-B13A-D615-4A0F8C9E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E52269-B0EB-18DC-DE39-A3AD36B12C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A8583D1-DDD1-30DB-C33B-B02E3FAAB6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5083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F55C097-A133-A9AE-16D6-208E0AF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6D746DD-8D1F-7682-B62B-AE526BAA1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1C9FE06-AA21-B300-87C5-2741E21A8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8938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21BC014-31C6-88A8-2CDB-B86EB1342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594064-7B1B-99D9-0727-3A7DC83E76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24CEE079-C57D-B44D-BEB5-17BEDD4DA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027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2D9A29E-6A99-7116-D663-7934B6FFB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87736AE-FD8E-2E1B-8AB7-0BC3DDABCD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42E41CDC-7484-1223-D556-033ED723C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912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8BD3EC2-7B7B-BB6E-1B16-3951DEDB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D13918B-24E2-569B-2A71-99C89F45B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ED8838C-B832-181C-BBA4-71F964AD2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82392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307EB2C-8E7A-6CAE-B70F-EB620884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F5617AA-FB32-2A68-566C-B74A0A675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2B82B374-128F-16AB-2073-374469572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33952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B6C3004-ADEE-D845-0C33-0AC078619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246B320-6975-A8C4-5D99-4A4949FF9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3D3525B-8425-2C06-1A2F-D440E9D37B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67173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ABB90A6-DAC4-8C47-AEE4-D2443E232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AE21C68-7325-E2D7-348C-2079AC3ED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55ACA8FC-9F19-D254-6229-6402462B9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4218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CC3B746-E058-9628-0798-9C000472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BE01D7-F9B6-B0C9-690F-A10D0C160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205F2A3-6053-3C84-15FB-6A2B6263CD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10848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E9195569-3BE6-C1C8-3A1E-23DC08EB2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48360C2C-64E2-5806-2F28-89046A399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B2169DA-0106-2DC8-F7CD-A2F126184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1835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DA9AD3F-E9A5-1BF3-0564-F30FCE58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53CE5DD-3FE1-D2F2-F028-201C5A8AD6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C14E4026-A8BE-638C-E86A-B511F169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1226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B03E5826-40C3-1E47-57A1-2968CD9C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0D6E870-3254-7A66-075F-B7A1841AB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98480BEA-84E0-FFFF-4E40-065CFC6EA8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76363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A9B0C724-F742-67BC-B7F6-26195C45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AFD22DF-3BF7-8DCF-79FC-863EEF488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C6A564EE-879A-FB95-DA12-1102D6A17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3425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E7A76F0-89A5-E311-7632-E824DE18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0B716E-3575-0565-BE5E-A929BCC17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787B0495-DB69-CE8A-B2D6-F47B28A6F0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88081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AC677C7-7546-9375-2BCD-1A807EA6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64D9E06-8447-85DD-8FEE-39E1AAE358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FA516BB-FE29-A2FD-80B4-ACF2507492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62356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DCB198E9-33B4-9027-B7B3-337F38D6A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F7C237BA-F632-4502-190D-7261F9764B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746B3E0-429E-D186-78ED-814D0E6C4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59879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6CDA247-CA0A-CA97-CBE4-67C58B3E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BAD00F7A-AC8F-6A16-3804-80C525F79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0F794E63-4171-7C19-A501-C344DFB74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02462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226B7EC-3DCD-AFF3-DBCA-6B57AD375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591850-C0DC-9D0D-B8B9-B7E242291E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D38A5FC-04A3-EABE-DF35-DC86E5756C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36455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498DA16-6865-9734-8D46-1B0D2E1DA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5914CD97-29A0-6593-B880-D110FC298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1DD04E0-CD02-674C-3B47-3F58BF76A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7918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26FA5DF-38A4-8F4B-9689-FF0A11951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A03A512E-2321-BB54-F62D-277E5D435A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B71D820-B1DC-B641-0D28-C7EBB8227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89772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E209CFC-6330-4336-694A-81BD881D5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39912AE-2EE8-321D-7CAD-D7067A58C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6F47CD01-5B71-920C-1C2A-026F72D35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2251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86A384B3-7FA4-F599-904C-E715ECA7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493450C-F79E-E115-C45B-A7E200B130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90971772-4443-2012-BE25-03D1DAA6D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09629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CD96D05-9EC3-B77E-0DC2-DE03665F3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C64BFF-F06A-1FC5-A080-D7B91D8D44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2A7FFA8-69DF-5184-72BD-C7446EA4C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6134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FC40D2F-2C2E-4CFF-ACDB-ABAD95D00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C841626-6DE7-FADF-618A-9020FC5F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0632C074-D5FB-A8EC-CCBC-A697AD8029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60004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A44EC184-B0DE-4C86-D24B-DD46394D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7B55DCA9-B621-8599-7E02-A31C20DF0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4214399A-18BD-4EA9-665D-544A601063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996644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71752A5-6A92-DAA0-7B29-FD9C77EE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4DBC727-2DE2-53B9-70B8-4E315A16B9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516C7411-FCA9-2978-99A2-12CE1DB60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71610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DF07398-B1B0-34A5-BA54-F3ED5EE3A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0699C4EE-310D-BD40-1D6B-28005A8E0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6B0EC4E0-6BB5-47B4-7B42-25ACE8FA11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61598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4894748E-D57B-E276-3D66-9587EE7C3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AA1975F-40F8-0211-1445-A4B38B87B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010A4E2-44B2-CFD2-A851-33ED1CAEA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68526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1750B79-4A7D-5469-DD55-2DF14D469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D019D70-EE44-BF01-A982-3FF1CBE860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7821973A-BAF9-A069-2B84-715E968B2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57735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9199018-430D-FDDB-C265-5D0931952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ABB7C52-F953-39D4-3B88-56A9F9A40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A24CEBC-7BF5-F4A9-B9FC-F6343E7FEE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48492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4F975AD4-0CA2-2AEA-15C2-E316C048B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C5B3CC9B-3D97-DE9B-C15A-6AF6D90DD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AC290C49-A64B-766E-AC4D-FBCC37A76B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42160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2D4AA14-D250-C57A-4FA1-4B406A40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FEEDBF29-35B3-5DC6-61F3-F50359CEA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936EFF2-3A2F-E12B-BEEA-C4716FE26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5589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2205375"/>
            <a:ext cx="5257800" cy="161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solidFill>
                  <a:srgbClr val="2411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885650"/>
            <a:ext cx="3690600" cy="468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4047175" y="2388500"/>
            <a:ext cx="4383600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4047175" y="1438750"/>
            <a:ext cx="1230300" cy="88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4416200" y="2886625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11975" y="829350"/>
            <a:ext cx="3993300" cy="98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ubTitle" idx="1"/>
          </p:nvPr>
        </p:nvSpPr>
        <p:spPr>
          <a:xfrm>
            <a:off x="811975" y="1878550"/>
            <a:ext cx="39933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>
            <a:spLocks noGrp="1"/>
          </p:cNvSpPr>
          <p:nvPr>
            <p:ph type="pic" idx="2"/>
          </p:nvPr>
        </p:nvSpPr>
        <p:spPr>
          <a:xfrm>
            <a:off x="5088475" y="770400"/>
            <a:ext cx="3081600" cy="3602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u-HU"/>
          </a:p>
        </p:txBody>
      </p:sp>
      <p:grpSp>
        <p:nvGrpSpPr>
          <p:cNvPr id="49" name="Google Shape;49;p7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50" name="Google Shape;50;p7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2" name="Google Shape;52;p7"/>
          <p:cNvGrpSpPr/>
          <p:nvPr/>
        </p:nvGrpSpPr>
        <p:grpSpPr>
          <a:xfrm rot="10800000">
            <a:off x="6704226" y="3811697"/>
            <a:ext cx="4574075" cy="3479350"/>
            <a:chOff x="1522650" y="1117750"/>
            <a:chExt cx="4574075" cy="3479350"/>
          </a:xfrm>
        </p:grpSpPr>
        <p:sp>
          <p:nvSpPr>
            <p:cNvPr id="53" name="Google Shape;53;p7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7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0" y="0"/>
            <a:ext cx="9143991" cy="5143500"/>
            <a:chOff x="10" y="0"/>
            <a:chExt cx="9143991" cy="5143500"/>
          </a:xfrm>
        </p:grpSpPr>
        <p:pic>
          <p:nvPicPr>
            <p:cNvPr id="57" name="Google Shape;57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4416200" y="2886625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8"/>
          <p:cNvGrpSpPr/>
          <p:nvPr/>
        </p:nvGrpSpPr>
        <p:grpSpPr>
          <a:xfrm rot="756538">
            <a:off x="5159567" y="-1927047"/>
            <a:ext cx="4574157" cy="3479412"/>
            <a:chOff x="1522650" y="1117750"/>
            <a:chExt cx="4574075" cy="3479350"/>
          </a:xfrm>
        </p:grpSpPr>
        <p:sp>
          <p:nvSpPr>
            <p:cNvPr id="60" name="Google Shape;60;p8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8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3830000" y="17164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64;p9"/>
          <p:cNvGrpSpPr/>
          <p:nvPr/>
        </p:nvGrpSpPr>
        <p:grpSpPr>
          <a:xfrm rot="756538">
            <a:off x="-714808" y="-2409347"/>
            <a:ext cx="4574157" cy="3479412"/>
            <a:chOff x="1522650" y="1117750"/>
            <a:chExt cx="4574075" cy="3479350"/>
          </a:xfrm>
        </p:grpSpPr>
        <p:sp>
          <p:nvSpPr>
            <p:cNvPr id="65" name="Google Shape;65;p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" name="Google Shape;67;p9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68" name="Google Shape;68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713225" y="15289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subTitle" idx="1"/>
          </p:nvPr>
        </p:nvSpPr>
        <p:spPr>
          <a:xfrm>
            <a:off x="713225" y="3640050"/>
            <a:ext cx="4872900" cy="4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57132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5" name="Google Shape;75;p10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76" name="Google Shape;76;p1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8" name="Google Shape;78;p10"/>
          <p:cNvGrpSpPr/>
          <p:nvPr/>
        </p:nvGrpSpPr>
        <p:grpSpPr>
          <a:xfrm>
            <a:off x="-896231" y="-2525369"/>
            <a:ext cx="11703669" cy="10221582"/>
            <a:chOff x="-896231" y="-2525369"/>
            <a:chExt cx="11703669" cy="10221582"/>
          </a:xfrm>
        </p:grpSpPr>
        <p:grpSp>
          <p:nvGrpSpPr>
            <p:cNvPr id="79" name="Google Shape;79;p10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80" name="Google Shape;80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10"/>
            <p:cNvGrpSpPr/>
            <p:nvPr/>
          </p:nvGrpSpPr>
          <p:grpSpPr>
            <a:xfrm>
              <a:off x="-896231" y="-2525369"/>
              <a:ext cx="4573618" cy="3479002"/>
              <a:chOff x="1522650" y="1117750"/>
              <a:chExt cx="4574075" cy="3479350"/>
            </a:xfrm>
          </p:grpSpPr>
          <p:sp>
            <p:nvSpPr>
              <p:cNvPr id="83" name="Google Shape;83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4" hasCustomPrompt="1"/>
          </p:nvPr>
        </p:nvSpPr>
        <p:spPr>
          <a:xfrm>
            <a:off x="3306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5" hasCustomPrompt="1"/>
          </p:nvPr>
        </p:nvSpPr>
        <p:spPr>
          <a:xfrm>
            <a:off x="3306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6" hasCustomPrompt="1"/>
          </p:nvPr>
        </p:nvSpPr>
        <p:spPr>
          <a:xfrm>
            <a:off x="5892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7" hasCustomPrompt="1"/>
          </p:nvPr>
        </p:nvSpPr>
        <p:spPr>
          <a:xfrm>
            <a:off x="5892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20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306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9"/>
          </p:nvPr>
        </p:nvSpPr>
        <p:spPr>
          <a:xfrm>
            <a:off x="5892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3"/>
          </p:nvPr>
        </p:nvSpPr>
        <p:spPr>
          <a:xfrm>
            <a:off x="720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4"/>
          </p:nvPr>
        </p:nvSpPr>
        <p:spPr>
          <a:xfrm>
            <a:off x="3306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5892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04" name="Google Shape;104;p13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105" name="Google Shape;105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7" name="Google Shape;107;p13"/>
          <p:cNvGrpSpPr/>
          <p:nvPr/>
        </p:nvGrpSpPr>
        <p:grpSpPr>
          <a:xfrm rot="-10539848" flipH="1">
            <a:off x="6108563" y="4049075"/>
            <a:ext cx="4573901" cy="3479217"/>
            <a:chOff x="1522650" y="1117750"/>
            <a:chExt cx="4574075" cy="3479350"/>
          </a:xfrm>
        </p:grpSpPr>
        <p:sp>
          <p:nvSpPr>
            <p:cNvPr id="108" name="Google Shape;108;p1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21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190" name="Google Shape;190;p2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" name="Google Shape;191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2" name="Google Shape;192;p21"/>
          <p:cNvGrpSpPr/>
          <p:nvPr/>
        </p:nvGrpSpPr>
        <p:grpSpPr>
          <a:xfrm rot="10800000">
            <a:off x="6704226" y="3811697"/>
            <a:ext cx="4574075" cy="3479350"/>
            <a:chOff x="1522650" y="1117750"/>
            <a:chExt cx="4574075" cy="3479350"/>
          </a:xfrm>
        </p:grpSpPr>
        <p:sp>
          <p:nvSpPr>
            <p:cNvPr id="193" name="Google Shape;193;p21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1"/>
          <p:cNvSpPr txBox="1">
            <a:spLocks noGrp="1"/>
          </p:cNvSpPr>
          <p:nvPr>
            <p:ph type="subTitle" idx="1"/>
          </p:nvPr>
        </p:nvSpPr>
        <p:spPr>
          <a:xfrm>
            <a:off x="1162025" y="1656927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1"/>
          <p:cNvSpPr txBox="1">
            <a:spLocks noGrp="1"/>
          </p:cNvSpPr>
          <p:nvPr>
            <p:ph type="subTitle" idx="2"/>
          </p:nvPr>
        </p:nvSpPr>
        <p:spPr>
          <a:xfrm>
            <a:off x="3782975" y="1656925"/>
            <a:ext cx="1972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1"/>
          <p:cNvSpPr txBox="1">
            <a:spLocks noGrp="1"/>
          </p:cNvSpPr>
          <p:nvPr>
            <p:ph type="subTitle" idx="3"/>
          </p:nvPr>
        </p:nvSpPr>
        <p:spPr>
          <a:xfrm>
            <a:off x="116202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1"/>
          <p:cNvSpPr txBox="1">
            <a:spLocks noGrp="1"/>
          </p:cNvSpPr>
          <p:nvPr>
            <p:ph type="subTitle" idx="4"/>
          </p:nvPr>
        </p:nvSpPr>
        <p:spPr>
          <a:xfrm>
            <a:off x="378297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1"/>
          <p:cNvSpPr txBox="1">
            <a:spLocks noGrp="1"/>
          </p:cNvSpPr>
          <p:nvPr>
            <p:ph type="subTitle" idx="5"/>
          </p:nvPr>
        </p:nvSpPr>
        <p:spPr>
          <a:xfrm>
            <a:off x="6403925" y="1656927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1"/>
          <p:cNvSpPr txBox="1">
            <a:spLocks noGrp="1"/>
          </p:cNvSpPr>
          <p:nvPr>
            <p:ph type="subTitle" idx="6"/>
          </p:nvPr>
        </p:nvSpPr>
        <p:spPr>
          <a:xfrm>
            <a:off x="640392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1"/>
          <p:cNvSpPr txBox="1">
            <a:spLocks noGrp="1"/>
          </p:cNvSpPr>
          <p:nvPr>
            <p:ph type="subTitle" idx="7"/>
          </p:nvPr>
        </p:nvSpPr>
        <p:spPr>
          <a:xfrm>
            <a:off x="1162025" y="1359241"/>
            <a:ext cx="1975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3" name="Google Shape;203;p21"/>
          <p:cNvSpPr txBox="1">
            <a:spLocks noGrp="1"/>
          </p:cNvSpPr>
          <p:nvPr>
            <p:ph type="subTitle" idx="8"/>
          </p:nvPr>
        </p:nvSpPr>
        <p:spPr>
          <a:xfrm>
            <a:off x="3782975" y="1359241"/>
            <a:ext cx="1972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4" name="Google Shape;204;p21"/>
          <p:cNvSpPr txBox="1">
            <a:spLocks noGrp="1"/>
          </p:cNvSpPr>
          <p:nvPr>
            <p:ph type="subTitle" idx="9"/>
          </p:nvPr>
        </p:nvSpPr>
        <p:spPr>
          <a:xfrm>
            <a:off x="6403925" y="1359241"/>
            <a:ext cx="19728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subTitle" idx="13"/>
          </p:nvPr>
        </p:nvSpPr>
        <p:spPr>
          <a:xfrm>
            <a:off x="1162025" y="3086317"/>
            <a:ext cx="1975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4"/>
          </p:nvPr>
        </p:nvSpPr>
        <p:spPr>
          <a:xfrm>
            <a:off x="3782975" y="3086317"/>
            <a:ext cx="1972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15"/>
          </p:nvPr>
        </p:nvSpPr>
        <p:spPr>
          <a:xfrm>
            <a:off x="6403925" y="3086317"/>
            <a:ext cx="19728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24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23" name="Google Shape;223;p2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4" name="Google Shape;22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24"/>
          <p:cNvGrpSpPr/>
          <p:nvPr/>
        </p:nvGrpSpPr>
        <p:grpSpPr>
          <a:xfrm rot="756538">
            <a:off x="-1069833" y="-1842572"/>
            <a:ext cx="4574157" cy="3479412"/>
            <a:chOff x="1522650" y="1117750"/>
            <a:chExt cx="4574075" cy="3479350"/>
          </a:xfrm>
        </p:grpSpPr>
        <p:sp>
          <p:nvSpPr>
            <p:cNvPr id="226" name="Google Shape;226;p2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229;p25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30" name="Google Shape;230;p2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25"/>
          <p:cNvGrpSpPr/>
          <p:nvPr/>
        </p:nvGrpSpPr>
        <p:grpSpPr>
          <a:xfrm>
            <a:off x="-1845124" y="-2180828"/>
            <a:ext cx="12652562" cy="9877041"/>
            <a:chOff x="-1845124" y="-2180828"/>
            <a:chExt cx="12652562" cy="9877041"/>
          </a:xfrm>
        </p:grpSpPr>
        <p:grpSp>
          <p:nvGrpSpPr>
            <p:cNvPr id="233" name="Google Shape;233;p25"/>
            <p:cNvGrpSpPr/>
            <p:nvPr/>
          </p:nvGrpSpPr>
          <p:grpSpPr>
            <a:xfrm>
              <a:off x="-1845124" y="-2180828"/>
              <a:ext cx="4574075" cy="3479350"/>
              <a:chOff x="1522650" y="1117750"/>
              <a:chExt cx="4574075" cy="3479350"/>
            </a:xfrm>
          </p:grpSpPr>
          <p:sp>
            <p:nvSpPr>
              <p:cNvPr id="234" name="Google Shape;234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6" name="Google Shape;236;p25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237" name="Google Shape;237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7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7388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9"/>
          <p:cNvSpPr txBox="1">
            <a:spLocks noGrp="1"/>
          </p:cNvSpPr>
          <p:nvPr>
            <p:ph type="ctrTitle"/>
          </p:nvPr>
        </p:nvSpPr>
        <p:spPr>
          <a:xfrm>
            <a:off x="713224" y="2205375"/>
            <a:ext cx="6067901" cy="161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>
                <a:solidFill>
                  <a:schemeClr val="dk1"/>
                </a:solidFill>
              </a:rPr>
              <a:t>Telekom hálózata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54" name="Google Shape;254;p29"/>
          <p:cNvSpPr txBox="1">
            <a:spLocks noGrp="1"/>
          </p:cNvSpPr>
          <p:nvPr>
            <p:ph type="subTitle" idx="1"/>
          </p:nvPr>
        </p:nvSpPr>
        <p:spPr>
          <a:xfrm>
            <a:off x="0" y="4674900"/>
            <a:ext cx="4085776" cy="4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Horváth Márk, Braun Dénes, Tőzsér Barnabás</a:t>
            </a:r>
            <a:endParaRPr dirty="0"/>
          </a:p>
        </p:txBody>
      </p: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60D0C8D-06C2-3B17-E534-7946BD5F7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4659" y="-2540028"/>
            <a:ext cx="3066013" cy="3066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1"/>
          <p:cNvSpPr txBox="1">
            <a:spLocks noGrp="1"/>
          </p:cNvSpPr>
          <p:nvPr>
            <p:ph type="title"/>
          </p:nvPr>
        </p:nvSpPr>
        <p:spPr>
          <a:xfrm>
            <a:off x="200816" y="0"/>
            <a:ext cx="33338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csapat tagjai :</a:t>
            </a:r>
            <a:endParaRPr dirty="0"/>
          </a:p>
        </p:txBody>
      </p:sp>
      <p:sp>
        <p:nvSpPr>
          <p:cNvPr id="7" name="Cím 6">
            <a:extLst>
              <a:ext uri="{FF2B5EF4-FFF2-40B4-BE49-F238E27FC236}">
                <a16:creationId xmlns:a16="http://schemas.microsoft.com/office/drawing/2014/main" id="{3897DE3A-71F3-C2B9-F468-CFF68538B2BE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1218176" y="3994408"/>
            <a:ext cx="1826567" cy="447600"/>
          </a:xfrm>
        </p:spPr>
        <p:txBody>
          <a:bodyPr/>
          <a:lstStyle/>
          <a:p>
            <a:r>
              <a:rPr lang="hu-HU" sz="2000" dirty="0"/>
              <a:t>Horváth Márk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48A1D8DC-0584-90FB-C475-590067192DBB}"/>
              </a:ext>
            </a:extLst>
          </p:cNvPr>
          <p:cNvSpPr>
            <a:spLocks noGrp="1"/>
          </p:cNvSpPr>
          <p:nvPr>
            <p:ph type="title" idx="5"/>
          </p:nvPr>
        </p:nvSpPr>
        <p:spPr>
          <a:xfrm>
            <a:off x="3699209" y="3994408"/>
            <a:ext cx="1745581" cy="447600"/>
          </a:xfrm>
        </p:spPr>
        <p:txBody>
          <a:bodyPr/>
          <a:lstStyle/>
          <a:p>
            <a:r>
              <a:rPr lang="hu-HU" sz="2000" dirty="0"/>
              <a:t>Braun Dénes</a:t>
            </a:r>
          </a:p>
        </p:txBody>
      </p:sp>
      <p:sp>
        <p:nvSpPr>
          <p:cNvPr id="15" name="Cím 14">
            <a:extLst>
              <a:ext uri="{FF2B5EF4-FFF2-40B4-BE49-F238E27FC236}">
                <a16:creationId xmlns:a16="http://schemas.microsoft.com/office/drawing/2014/main" id="{617D6943-3072-57BF-1102-E8D1775E5813}"/>
              </a:ext>
            </a:extLst>
          </p:cNvPr>
          <p:cNvSpPr>
            <a:spLocks noGrp="1"/>
          </p:cNvSpPr>
          <p:nvPr>
            <p:ph type="title" idx="7"/>
          </p:nvPr>
        </p:nvSpPr>
        <p:spPr>
          <a:xfrm>
            <a:off x="6099256" y="3994408"/>
            <a:ext cx="2350389" cy="447600"/>
          </a:xfrm>
        </p:spPr>
        <p:txBody>
          <a:bodyPr/>
          <a:lstStyle/>
          <a:p>
            <a:r>
              <a:rPr lang="hu-HU" sz="2000" dirty="0"/>
              <a:t>Tőzsér Barnabás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D0D922-0235-373B-79C5-722BDC87F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 descr="A képen Emberi arc, személy, ruházat, fal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C8FE56F-FBE2-71FF-DDD2-AD0C4F400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469" y="967595"/>
            <a:ext cx="2125980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Kép 5" descr="A képen fal, Emberi arc, személy, ruházat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D27F212-80A4-DBFD-18BC-88324D108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9009" y="967595"/>
            <a:ext cx="2125980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C654769-E4CE-AFD7-ED2D-CEA32BC343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352" t="9428" r="37228" b="52731"/>
          <a:stretch>
            <a:fillRect/>
          </a:stretch>
        </p:blipFill>
        <p:spPr>
          <a:xfrm>
            <a:off x="6298490" y="966867"/>
            <a:ext cx="1951409" cy="27797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02F139B-72FE-6C5C-1D7B-91709487A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BDDE67FC-3D1E-6CF8-FEE8-C9E0D46A2DCB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658716" y="405388"/>
            <a:ext cx="1826567" cy="447600"/>
          </a:xfrm>
        </p:spPr>
        <p:txBody>
          <a:bodyPr/>
          <a:lstStyle/>
          <a:p>
            <a:r>
              <a:rPr lang="hu-HU" sz="2000" dirty="0"/>
              <a:t>Horváth Márk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4C27458-CDAE-7D1F-90B5-323B0CC5A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 descr="A képen Emberi arc, személy, ruházat, fal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E11D0F-9AEF-9870-CEA1-15C5748D3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17" y="405388"/>
            <a:ext cx="2675059" cy="3566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7637825B-A21E-8458-95C3-86B1491A7D5D}"/>
              </a:ext>
            </a:extLst>
          </p:cNvPr>
          <p:cNvSpPr txBox="1"/>
          <p:nvPr/>
        </p:nvSpPr>
        <p:spPr>
          <a:xfrm>
            <a:off x="3658716" y="1171366"/>
            <a:ext cx="495076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Hálózattervező és üzemeltető szakember a </a:t>
            </a:r>
            <a:r>
              <a:rPr lang="hu-HU" sz="1600" dirty="0" err="1">
                <a:solidFill>
                  <a:schemeClr val="dk1"/>
                </a:solidFill>
                <a:latin typeface="Cairo"/>
                <a:cs typeface="Cairo"/>
                <a:sym typeface="Cairo"/>
              </a:rPr>
              <a:t>SegíTechnél</a:t>
            </a: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Végzettség: Neumann János Technikum – naprakész, gyakorlatias tudással</a:t>
            </a: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Szereti a kihívásokat, motiválják a komplex feladatok</a:t>
            </a: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A projekt kiváló lehetőség volt szakmai tudása bizonyítására</a:t>
            </a:r>
          </a:p>
        </p:txBody>
      </p:sp>
    </p:spTree>
    <p:extLst>
      <p:ext uri="{BB962C8B-B14F-4D97-AF65-F5344CB8AC3E}">
        <p14:creationId xmlns:p14="http://schemas.microsoft.com/office/powerpoint/2010/main" val="4197975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2B3DF850-21D9-BB6E-E5E3-3AB05D3E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49D50002-60E8-4CAF-16A3-9C2A454C648D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477860" y="408796"/>
            <a:ext cx="1826567" cy="447600"/>
          </a:xfrm>
        </p:spPr>
        <p:txBody>
          <a:bodyPr/>
          <a:lstStyle/>
          <a:p>
            <a:r>
              <a:rPr lang="hu-HU" sz="2000" dirty="0"/>
              <a:t>Braun Dénes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40554EA-EBA5-59E8-24E3-A4B7B6DEC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3" name="Kép 2" descr="A képen fal, Emberi arc, személy, ruházat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4D1CCC-46E1-10F9-37AE-30A3F534D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17" y="408796"/>
            <a:ext cx="2672502" cy="356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D2015C9A-B70A-185E-C6F3-BF2F39668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7860" y="1171366"/>
            <a:ext cx="4918246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Hálózati technikus a </a:t>
            </a:r>
            <a:r>
              <a:rPr lang="hu-HU" altLang="hu-HU" sz="1600" dirty="0" err="1">
                <a:solidFill>
                  <a:schemeClr val="dk1"/>
                </a:solidFill>
                <a:latin typeface="Cairo"/>
                <a:cs typeface="Cairo"/>
              </a:rPr>
              <a:t>SegíTechnél</a:t>
            </a: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Végzettség: Neumann Informatikai Technikum – erős alapok IT‑infrastruktúrában, hálózatokban és biztonságban</a:t>
            </a:r>
          </a:p>
          <a:p>
            <a:pPr lvl="0" defTabSz="914400" eaLnBrk="0" fontAlgn="base" latinLnBrk="0" hangingPunct="0">
              <a:buClr>
                <a:schemeClr val="dk1"/>
              </a:buClr>
              <a:buSzPts val="1100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Célja stabil, biztonságos és hatékony hálózati megoldások biztosítása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Folyamatosan fejleszti tudását és nyitott az új technológiákra </a:t>
            </a:r>
          </a:p>
        </p:txBody>
      </p:sp>
    </p:spTree>
    <p:extLst>
      <p:ext uri="{BB962C8B-B14F-4D97-AF65-F5344CB8AC3E}">
        <p14:creationId xmlns:p14="http://schemas.microsoft.com/office/powerpoint/2010/main" val="4147367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28AD475-2D6D-F29D-9145-F7E63CB7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CE5C5351-0F53-3772-A532-485E8D66620D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477860" y="408796"/>
            <a:ext cx="2229520" cy="447600"/>
          </a:xfrm>
        </p:spPr>
        <p:txBody>
          <a:bodyPr/>
          <a:lstStyle/>
          <a:p>
            <a:r>
              <a:rPr lang="hu-HU" sz="2000" dirty="0"/>
              <a:t>Tőzsér Barnabás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0033CBB-C4A2-2F91-A137-B6189738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7D30B6E-1E2A-88CA-4FF2-A6F69074C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7860" y="1118077"/>
            <a:ext cx="550612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19 éves pályakezdő, a </a:t>
            </a:r>
            <a:r>
              <a:rPr lang="hu-HU" altLang="hu-HU" sz="1600" dirty="0" err="1">
                <a:solidFill>
                  <a:schemeClr val="dk1"/>
                </a:solidFill>
                <a:latin typeface="Cairo"/>
                <a:cs typeface="Cairo"/>
              </a:rPr>
              <a:t>Segítech</a:t>
            </a: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csapatának tagja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Végzettség: Neumann János Informatikai Technikum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Jelenleg: Óbudai Egyetem – szakmai tudás mélyítése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Motivált, fejlődésre törekvő, nyitott az új technológiákra</a:t>
            </a:r>
          </a:p>
          <a:p>
            <a:pPr eaLnBrk="0" fontAlgn="base" hangingPunct="0">
              <a:buClr>
                <a:schemeClr val="dk1"/>
              </a:buClr>
              <a:buSzPts val="1100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Célja: gyakorlati tudás építése és hosszú távú IT karrier </a:t>
            </a:r>
          </a:p>
        </p:txBody>
      </p:sp>
      <p:pic>
        <p:nvPicPr>
          <p:cNvPr id="3" name="Kép 2" descr="A képen személy, Emberi arc, fedett pályás, mosoly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772691A-AD03-DB38-47FF-24869B4A0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15" y="527025"/>
            <a:ext cx="1752645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9478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Szolgáltatásaink:</a:t>
            </a:r>
            <a:endParaRPr dirty="0"/>
          </a:p>
        </p:txBody>
      </p:sp>
      <p:sp>
        <p:nvSpPr>
          <p:cNvPr id="367" name="Google Shape;367;p37"/>
          <p:cNvSpPr txBox="1">
            <a:spLocks noGrp="1"/>
          </p:cNvSpPr>
          <p:nvPr>
            <p:ph type="subTitle" idx="2"/>
          </p:nvPr>
        </p:nvSpPr>
        <p:spPr>
          <a:xfrm>
            <a:off x="5931668" y="1366436"/>
            <a:ext cx="2445057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2400"/>
            </a:pPr>
            <a:r>
              <a:rPr lang="hu-HU" sz="1600" dirty="0">
                <a:sym typeface="Space Grotesk Medium"/>
              </a:rPr>
              <a:t>Kábelezési rendszerek</a:t>
            </a:r>
          </a:p>
          <a:p>
            <a:pPr>
              <a:buSzPts val="2400"/>
            </a:pPr>
            <a:r>
              <a:rPr lang="hu-HU" sz="1600" dirty="0">
                <a:sym typeface="Space Grotesk Medium"/>
              </a:rPr>
              <a:t>modernizálása</a:t>
            </a: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3"/>
          </p:nvPr>
        </p:nvSpPr>
        <p:spPr>
          <a:xfrm>
            <a:off x="1288902" y="3305399"/>
            <a:ext cx="2453919" cy="7083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2400"/>
            </a:pPr>
            <a:r>
              <a:rPr lang="hu-HU" sz="1600" dirty="0">
                <a:sym typeface="Space Grotesk Medium"/>
              </a:rPr>
              <a:t>IT-biztonsági</a:t>
            </a:r>
          </a:p>
          <a:p>
            <a:pPr>
              <a:buSzPts val="2400"/>
            </a:pPr>
            <a:r>
              <a:rPr lang="hu-HU" sz="1600" dirty="0">
                <a:sym typeface="Space Grotesk Medium"/>
              </a:rPr>
              <a:t>Megoldások integrálása</a:t>
            </a:r>
          </a:p>
        </p:txBody>
      </p:sp>
      <p:sp>
        <p:nvSpPr>
          <p:cNvPr id="369" name="Google Shape;369;p37"/>
          <p:cNvSpPr txBox="1">
            <a:spLocks noGrp="1"/>
          </p:cNvSpPr>
          <p:nvPr>
            <p:ph type="subTitle" idx="4"/>
          </p:nvPr>
        </p:nvSpPr>
        <p:spPr>
          <a:xfrm>
            <a:off x="3742821" y="2330321"/>
            <a:ext cx="2901612" cy="9064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2400"/>
            </a:pPr>
            <a:r>
              <a:rPr lang="hu-HU" sz="1600" dirty="0"/>
              <a:t>Aktív eszközök</a:t>
            </a:r>
          </a:p>
          <a:p>
            <a:pPr lvl="0">
              <a:buSzPts val="2400"/>
            </a:pPr>
            <a:r>
              <a:rPr lang="hu-HU" sz="1600" dirty="0"/>
              <a:t>telepítése és konfigurálása</a:t>
            </a:r>
          </a:p>
        </p:txBody>
      </p:sp>
      <p:sp>
        <p:nvSpPr>
          <p:cNvPr id="370" name="Google Shape;370;p37"/>
          <p:cNvSpPr txBox="1">
            <a:spLocks noGrp="1"/>
          </p:cNvSpPr>
          <p:nvPr>
            <p:ph type="subTitle" idx="7"/>
          </p:nvPr>
        </p:nvSpPr>
        <p:spPr>
          <a:xfrm>
            <a:off x="1277746" y="1371346"/>
            <a:ext cx="2615572" cy="12004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sz="1600" dirty="0">
                <a:latin typeface="Cairo"/>
                <a:cs typeface="Cairo"/>
                <a:sym typeface="Cairo"/>
              </a:rPr>
              <a:t>Hálózati infrastruktúra</a:t>
            </a:r>
          </a:p>
          <a:p>
            <a:pPr lvl="0"/>
            <a:r>
              <a:rPr lang="hu-HU" sz="1600" dirty="0">
                <a:latin typeface="Cairo"/>
                <a:cs typeface="Cairo"/>
                <a:sym typeface="Cairo"/>
              </a:rPr>
              <a:t>tervezése és kivitelezése</a:t>
            </a:r>
          </a:p>
        </p:txBody>
      </p:sp>
      <p:sp>
        <p:nvSpPr>
          <p:cNvPr id="374" name="Google Shape;374;p37"/>
          <p:cNvSpPr txBox="1">
            <a:spLocks noGrp="1"/>
          </p:cNvSpPr>
          <p:nvPr>
            <p:ph type="subTitle" idx="6"/>
          </p:nvPr>
        </p:nvSpPr>
        <p:spPr>
          <a:xfrm>
            <a:off x="5946105" y="3305399"/>
            <a:ext cx="2823896" cy="7083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2400"/>
            </a:pPr>
            <a:r>
              <a:rPr lang="hu-HU" sz="1600" dirty="0"/>
              <a:t>Teljesítményoptimalizálás és</a:t>
            </a:r>
          </a:p>
          <a:p>
            <a:pPr lvl="0">
              <a:buSzPts val="2400"/>
            </a:pPr>
            <a:r>
              <a:rPr lang="hu-HU" sz="1600" dirty="0"/>
              <a:t>rendszerfelügyelet</a:t>
            </a:r>
          </a:p>
        </p:txBody>
      </p:sp>
      <p:sp>
        <p:nvSpPr>
          <p:cNvPr id="388" name="Google Shape;388;p37"/>
          <p:cNvSpPr/>
          <p:nvPr/>
        </p:nvSpPr>
        <p:spPr>
          <a:xfrm>
            <a:off x="919395" y="1492336"/>
            <a:ext cx="329184" cy="329177"/>
          </a:xfrm>
          <a:custGeom>
            <a:avLst/>
            <a:gdLst/>
            <a:ahLst/>
            <a:cxnLst/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8267;p61">
            <a:extLst>
              <a:ext uri="{FF2B5EF4-FFF2-40B4-BE49-F238E27FC236}">
                <a16:creationId xmlns:a16="http://schemas.microsoft.com/office/drawing/2014/main" id="{6E91D262-30CC-DEDF-B651-D57FD3393784}"/>
              </a:ext>
            </a:extLst>
          </p:cNvPr>
          <p:cNvSpPr/>
          <p:nvPr/>
        </p:nvSpPr>
        <p:spPr>
          <a:xfrm>
            <a:off x="5593650" y="1486866"/>
            <a:ext cx="352455" cy="340116"/>
          </a:xfrm>
          <a:custGeom>
            <a:avLst/>
            <a:gdLst/>
            <a:ahLst/>
            <a:cxnLst/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1" name="Google Shape;9651;p65">
            <a:extLst>
              <a:ext uri="{FF2B5EF4-FFF2-40B4-BE49-F238E27FC236}">
                <a16:creationId xmlns:a16="http://schemas.microsoft.com/office/drawing/2014/main" id="{949AA8C9-3208-1A87-BF30-E19F80FCDE33}"/>
              </a:ext>
            </a:extLst>
          </p:cNvPr>
          <p:cNvSpPr/>
          <p:nvPr/>
        </p:nvSpPr>
        <p:spPr>
          <a:xfrm>
            <a:off x="3384622" y="2459194"/>
            <a:ext cx="358199" cy="359154"/>
          </a:xfrm>
          <a:custGeom>
            <a:avLst/>
            <a:gdLst/>
            <a:ahLst/>
            <a:cxnLst/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0167;p67">
            <a:extLst>
              <a:ext uri="{FF2B5EF4-FFF2-40B4-BE49-F238E27FC236}">
                <a16:creationId xmlns:a16="http://schemas.microsoft.com/office/drawing/2014/main" id="{E7C7231B-310B-5387-4E2C-B89B237ABA23}"/>
              </a:ext>
            </a:extLst>
          </p:cNvPr>
          <p:cNvSpPr/>
          <p:nvPr/>
        </p:nvSpPr>
        <p:spPr>
          <a:xfrm>
            <a:off x="890228" y="3435779"/>
            <a:ext cx="387518" cy="375012"/>
          </a:xfrm>
          <a:custGeom>
            <a:avLst/>
            <a:gdLst/>
            <a:ahLst/>
            <a:cxnLst/>
            <a:rect l="l" t="t" r="r" b="b"/>
            <a:pathLst>
              <a:path w="11658" h="11685" extrusionOk="0">
                <a:moveTo>
                  <a:pt x="10618" y="662"/>
                </a:moveTo>
                <a:cubicBezTo>
                  <a:pt x="10807" y="662"/>
                  <a:pt x="10964" y="851"/>
                  <a:pt x="10964" y="1040"/>
                </a:cubicBezTo>
                <a:lnTo>
                  <a:pt x="10964" y="2741"/>
                </a:lnTo>
                <a:lnTo>
                  <a:pt x="662" y="2741"/>
                </a:lnTo>
                <a:lnTo>
                  <a:pt x="662" y="1040"/>
                </a:lnTo>
                <a:cubicBezTo>
                  <a:pt x="662" y="851"/>
                  <a:pt x="820" y="662"/>
                  <a:pt x="1009" y="662"/>
                </a:cubicBezTo>
                <a:close/>
                <a:moveTo>
                  <a:pt x="10964" y="3403"/>
                </a:moveTo>
                <a:lnTo>
                  <a:pt x="10964" y="8601"/>
                </a:lnTo>
                <a:cubicBezTo>
                  <a:pt x="10964" y="8790"/>
                  <a:pt x="10838" y="8947"/>
                  <a:pt x="10618" y="8947"/>
                </a:cubicBezTo>
                <a:lnTo>
                  <a:pt x="10145" y="8947"/>
                </a:lnTo>
                <a:cubicBezTo>
                  <a:pt x="10208" y="8727"/>
                  <a:pt x="10240" y="8443"/>
                  <a:pt x="10240" y="8160"/>
                </a:cubicBezTo>
                <a:lnTo>
                  <a:pt x="10240" y="5860"/>
                </a:lnTo>
                <a:cubicBezTo>
                  <a:pt x="10240" y="5673"/>
                  <a:pt x="10058" y="5531"/>
                  <a:pt x="9868" y="5531"/>
                </a:cubicBezTo>
                <a:cubicBezTo>
                  <a:pt x="9835" y="5531"/>
                  <a:pt x="9801" y="5535"/>
                  <a:pt x="9767" y="5545"/>
                </a:cubicBezTo>
                <a:cubicBezTo>
                  <a:pt x="9545" y="5641"/>
                  <a:pt x="9341" y="5691"/>
                  <a:pt x="9142" y="5691"/>
                </a:cubicBezTo>
                <a:cubicBezTo>
                  <a:pt x="8693" y="5691"/>
                  <a:pt x="8275" y="5439"/>
                  <a:pt x="7751" y="4915"/>
                </a:cubicBezTo>
                <a:cubicBezTo>
                  <a:pt x="7688" y="4868"/>
                  <a:pt x="7601" y="4844"/>
                  <a:pt x="7515" y="4844"/>
                </a:cubicBezTo>
                <a:cubicBezTo>
                  <a:pt x="7428" y="4844"/>
                  <a:pt x="7341" y="4868"/>
                  <a:pt x="7278" y="4915"/>
                </a:cubicBezTo>
                <a:cubicBezTo>
                  <a:pt x="6753" y="5440"/>
                  <a:pt x="6334" y="5677"/>
                  <a:pt x="5884" y="5677"/>
                </a:cubicBezTo>
                <a:cubicBezTo>
                  <a:pt x="5686" y="5677"/>
                  <a:pt x="5483" y="5631"/>
                  <a:pt x="5262" y="5545"/>
                </a:cubicBezTo>
                <a:cubicBezTo>
                  <a:pt x="5229" y="5535"/>
                  <a:pt x="5195" y="5531"/>
                  <a:pt x="5161" y="5531"/>
                </a:cubicBezTo>
                <a:cubicBezTo>
                  <a:pt x="4971" y="5531"/>
                  <a:pt x="4789" y="5673"/>
                  <a:pt x="4789" y="5860"/>
                </a:cubicBezTo>
                <a:lnTo>
                  <a:pt x="4789" y="8160"/>
                </a:lnTo>
                <a:cubicBezTo>
                  <a:pt x="4789" y="8443"/>
                  <a:pt x="4821" y="8664"/>
                  <a:pt x="4884" y="8947"/>
                </a:cubicBezTo>
                <a:lnTo>
                  <a:pt x="1009" y="8947"/>
                </a:lnTo>
                <a:cubicBezTo>
                  <a:pt x="820" y="8947"/>
                  <a:pt x="662" y="8790"/>
                  <a:pt x="662" y="8601"/>
                </a:cubicBezTo>
                <a:lnTo>
                  <a:pt x="662" y="3403"/>
                </a:lnTo>
                <a:close/>
                <a:moveTo>
                  <a:pt x="7152" y="5923"/>
                </a:moveTo>
                <a:lnTo>
                  <a:pt x="7152" y="10838"/>
                </a:lnTo>
                <a:cubicBezTo>
                  <a:pt x="6144" y="10365"/>
                  <a:pt x="5451" y="9357"/>
                  <a:pt x="5451" y="8160"/>
                </a:cubicBezTo>
                <a:lnTo>
                  <a:pt x="5451" y="6301"/>
                </a:lnTo>
                <a:cubicBezTo>
                  <a:pt x="5604" y="6330"/>
                  <a:pt x="5750" y="6344"/>
                  <a:pt x="5891" y="6344"/>
                </a:cubicBezTo>
                <a:cubicBezTo>
                  <a:pt x="6359" y="6344"/>
                  <a:pt x="6765" y="6189"/>
                  <a:pt x="7152" y="5923"/>
                </a:cubicBezTo>
                <a:close/>
                <a:moveTo>
                  <a:pt x="7877" y="5923"/>
                </a:moveTo>
                <a:cubicBezTo>
                  <a:pt x="8242" y="6166"/>
                  <a:pt x="8644" y="6353"/>
                  <a:pt x="9128" y="6353"/>
                </a:cubicBezTo>
                <a:cubicBezTo>
                  <a:pt x="9271" y="6353"/>
                  <a:pt x="9420" y="6337"/>
                  <a:pt x="9578" y="6301"/>
                </a:cubicBezTo>
                <a:lnTo>
                  <a:pt x="9578" y="8160"/>
                </a:lnTo>
                <a:cubicBezTo>
                  <a:pt x="9547" y="9357"/>
                  <a:pt x="8885" y="10365"/>
                  <a:pt x="7877" y="10838"/>
                </a:cubicBezTo>
                <a:lnTo>
                  <a:pt x="7877" y="5923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40"/>
                </a:cubicBezTo>
                <a:lnTo>
                  <a:pt x="1" y="8601"/>
                </a:lnTo>
                <a:cubicBezTo>
                  <a:pt x="1" y="9136"/>
                  <a:pt x="473" y="9609"/>
                  <a:pt x="1009" y="9609"/>
                </a:cubicBezTo>
                <a:lnTo>
                  <a:pt x="5073" y="9609"/>
                </a:lnTo>
                <a:cubicBezTo>
                  <a:pt x="5199" y="9893"/>
                  <a:pt x="5357" y="10145"/>
                  <a:pt x="5514" y="10365"/>
                </a:cubicBezTo>
                <a:cubicBezTo>
                  <a:pt x="5987" y="10995"/>
                  <a:pt x="6617" y="11436"/>
                  <a:pt x="7404" y="11657"/>
                </a:cubicBezTo>
                <a:cubicBezTo>
                  <a:pt x="7446" y="11657"/>
                  <a:pt x="7488" y="11685"/>
                  <a:pt x="7530" y="11685"/>
                </a:cubicBezTo>
                <a:cubicBezTo>
                  <a:pt x="7551" y="11685"/>
                  <a:pt x="7572" y="11678"/>
                  <a:pt x="7593" y="11657"/>
                </a:cubicBezTo>
                <a:cubicBezTo>
                  <a:pt x="8350" y="11436"/>
                  <a:pt x="9011" y="10995"/>
                  <a:pt x="9484" y="10365"/>
                </a:cubicBezTo>
                <a:cubicBezTo>
                  <a:pt x="9641" y="10145"/>
                  <a:pt x="9799" y="9893"/>
                  <a:pt x="9925" y="9609"/>
                </a:cubicBezTo>
                <a:lnTo>
                  <a:pt x="10618" y="9609"/>
                </a:lnTo>
                <a:cubicBezTo>
                  <a:pt x="11185" y="9609"/>
                  <a:pt x="11658" y="9136"/>
                  <a:pt x="11658" y="8601"/>
                </a:cubicBezTo>
                <a:lnTo>
                  <a:pt x="11658" y="1040"/>
                </a:lnTo>
                <a:cubicBezTo>
                  <a:pt x="11658" y="473"/>
                  <a:pt x="11217" y="0"/>
                  <a:pt x="1061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9224;p64">
            <a:extLst>
              <a:ext uri="{FF2B5EF4-FFF2-40B4-BE49-F238E27FC236}">
                <a16:creationId xmlns:a16="http://schemas.microsoft.com/office/drawing/2014/main" id="{CF3CD2FD-45FF-19AE-56D3-30AF4119886C}"/>
              </a:ext>
            </a:extLst>
          </p:cNvPr>
          <p:cNvSpPr/>
          <p:nvPr/>
        </p:nvSpPr>
        <p:spPr>
          <a:xfrm>
            <a:off x="5593650" y="3435779"/>
            <a:ext cx="354527" cy="356620"/>
          </a:xfrm>
          <a:custGeom>
            <a:avLst/>
            <a:gdLst/>
            <a:ahLst/>
            <a:cxnLst/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Kép 19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FFDF9E3-8CCC-EDB5-C12D-F8EFEFDA7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224677" y="170550"/>
            <a:ext cx="3993300" cy="5998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Megbízás:</a:t>
            </a:r>
            <a:endParaRPr dirty="0"/>
          </a:p>
        </p:txBody>
      </p:sp>
      <p:sp>
        <p:nvSpPr>
          <p:cNvPr id="287" name="Google Shape;287;p32"/>
          <p:cNvSpPr txBox="1">
            <a:spLocks noGrp="1"/>
          </p:cNvSpPr>
          <p:nvPr>
            <p:ph type="subTitle" idx="1"/>
          </p:nvPr>
        </p:nvSpPr>
        <p:spPr>
          <a:xfrm>
            <a:off x="224676" y="882374"/>
            <a:ext cx="4897451" cy="18682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r>
              <a:rPr lang="hu-HU" sz="1600" dirty="0"/>
              <a:t>A Magyar Telekom budapesti központi irodájának és két közeli telephelyének teljes hálózati felújítása</a:t>
            </a:r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600" dirty="0"/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600" dirty="0"/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r>
              <a:rPr lang="hu-HU" sz="1600" dirty="0"/>
              <a:t>Gyorsabb, stabilabb és biztonságosabb adatkommunikáció a legmodernebb technológiákkal</a:t>
            </a:r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400" dirty="0"/>
          </a:p>
        </p:txBody>
      </p:sp>
      <p:pic>
        <p:nvPicPr>
          <p:cNvPr id="7" name="Kép 6" descr="A képen szöveg, Betűtípus, Grafika, Grafikus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569672F-5088-37DF-3EB4-7AE69CCFB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064" y="670183"/>
            <a:ext cx="3564478" cy="2491740"/>
          </a:xfrm>
          <a:prstGeom prst="rect">
            <a:avLst/>
          </a:prstGeom>
        </p:spPr>
      </p:pic>
      <p:pic>
        <p:nvPicPr>
          <p:cNvPr id="8" name="Kép 7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5BA867A-51CF-F726-F8A4-94B6E4B80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F597FAB8-F241-F567-D761-9E06B8608165}"/>
              </a:ext>
            </a:extLst>
          </p:cNvPr>
          <p:cNvSpPr txBox="1"/>
          <p:nvPr/>
        </p:nvSpPr>
        <p:spPr>
          <a:xfrm>
            <a:off x="224676" y="3161923"/>
            <a:ext cx="78339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Energiahatékonyság, jövőálló megoldások, folyamatos üzletmenet biztosítása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3"/>
          <p:cNvSpPr txBox="1">
            <a:spLocks noGrp="1"/>
          </p:cNvSpPr>
          <p:nvPr>
            <p:ph type="title"/>
          </p:nvPr>
        </p:nvSpPr>
        <p:spPr>
          <a:xfrm>
            <a:off x="352410" y="86810"/>
            <a:ext cx="3874414" cy="1392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Topológia</a:t>
            </a:r>
            <a:endParaRPr sz="2800" dirty="0"/>
          </a:p>
        </p:txBody>
      </p:sp>
      <p:grpSp>
        <p:nvGrpSpPr>
          <p:cNvPr id="295" name="Google Shape;295;p33"/>
          <p:cNvGrpSpPr/>
          <p:nvPr/>
        </p:nvGrpSpPr>
        <p:grpSpPr>
          <a:xfrm rot="756538">
            <a:off x="5159567" y="-1610422"/>
            <a:ext cx="4574157" cy="3479412"/>
            <a:chOff x="1522650" y="1117750"/>
            <a:chExt cx="4574075" cy="3479350"/>
          </a:xfrm>
        </p:grpSpPr>
        <p:sp>
          <p:nvSpPr>
            <p:cNvPr id="296" name="Google Shape;296;p3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5EC8028-225B-EF10-B778-20C3A7E8F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65171C2-70BC-6DE7-1E8F-392DC4016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884" y="615495"/>
            <a:ext cx="6215880" cy="42402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1A9A587-AC66-86F2-D6BA-98DF04F4D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8A3785DE-BD15-9D3E-8BE1-17296FC98072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r>
              <a:rPr lang="hu-HU" sz="2800" dirty="0" err="1">
                <a:solidFill>
                  <a:schemeClr val="dk1"/>
                </a:solidFill>
                <a:latin typeface="Space Grotesk"/>
                <a:cs typeface="Space Grotesk"/>
                <a:sym typeface="Space Grotesk"/>
              </a:rPr>
              <a:t>Budapest_technologiai_telephely</a:t>
            </a:r>
            <a:r>
              <a:rPr lang="hu-HU" sz="2800" dirty="0">
                <a:solidFill>
                  <a:schemeClr val="dk1"/>
                </a:solidFill>
                <a:latin typeface="Space Grotesk"/>
                <a:cs typeface="Space Grotesk"/>
                <a:sym typeface="Space Grotesk"/>
              </a:rPr>
              <a:t> </a:t>
            </a:r>
          </a:p>
        </p:txBody>
      </p:sp>
      <p:pic>
        <p:nvPicPr>
          <p:cNvPr id="31" name="Kép 30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C8CFE3E-2277-95CD-A96A-E74CB68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FAF8ECBE-EC9A-E946-C793-1F5785C8F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634" y="643552"/>
            <a:ext cx="5982731" cy="4162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018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50AA6F1-A64E-E344-9451-8FFC7A15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A9F19CFF-DA34-A990-CC67-3307313BC49A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r>
              <a:rPr lang="hu-HU" sz="2800" dirty="0" err="1">
                <a:solidFill>
                  <a:schemeClr val="dk1"/>
                </a:solidFill>
                <a:latin typeface="Space Grotesk"/>
                <a:cs typeface="Space Grotesk"/>
              </a:rPr>
              <a:t>Titkárság_budapest</a:t>
            </a:r>
            <a:r>
              <a:rPr lang="hu-HU" sz="2800" dirty="0">
                <a:solidFill>
                  <a:schemeClr val="dk1"/>
                </a:solidFill>
                <a:latin typeface="Space Grotesk"/>
                <a:cs typeface="Space Grotesk"/>
              </a:rPr>
              <a:t> </a:t>
            </a:r>
            <a:endParaRPr lang="hu-HU" sz="2800" dirty="0">
              <a:solidFill>
                <a:schemeClr val="dk1"/>
              </a:solidFill>
              <a:latin typeface="Space Grotesk"/>
              <a:cs typeface="Space Grotesk"/>
              <a:sym typeface="Space Grotesk"/>
            </a:endParaRPr>
          </a:p>
        </p:txBody>
      </p:sp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A24811-9DF8-27F4-38B7-392C0E1A6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8693CEE-2BF1-6585-C3E7-9C5DA8819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710" y="632222"/>
            <a:ext cx="6438579" cy="42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79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62E624-2E14-E491-0D1E-1624D0965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Debrecen</a:t>
            </a:r>
          </a:p>
        </p:txBody>
      </p:sp>
      <p:sp>
        <p:nvSpPr>
          <p:cNvPr id="20" name="AutoShape 2" descr="Hsrp01">
            <a:extLst>
              <a:ext uri="{FF2B5EF4-FFF2-40B4-BE49-F238E27FC236}">
                <a16:creationId xmlns:a16="http://schemas.microsoft.com/office/drawing/2014/main" id="{FA1EA6B2-0F04-5AA0-A3B2-7AC4ABB78F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21" name="AutoShape 4" descr="Hsrp01">
            <a:extLst>
              <a:ext uri="{FF2B5EF4-FFF2-40B4-BE49-F238E27FC236}">
                <a16:creationId xmlns:a16="http://schemas.microsoft.com/office/drawing/2014/main" id="{CDC06657-D55F-56B0-DB82-763AF99EE1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1271830" cy="1271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0BDA52F-CC02-1CC0-09D9-7B00B5E18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74" y="1149084"/>
            <a:ext cx="7356451" cy="332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57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24F08D-C10B-F4A3-714E-0BE859295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79401"/>
            <a:ext cx="7704000" cy="572700"/>
          </a:xfrm>
        </p:spPr>
        <p:txBody>
          <a:bodyPr/>
          <a:lstStyle/>
          <a:p>
            <a:r>
              <a:rPr lang="hu-HU" dirty="0" err="1"/>
              <a:t>Szeged_tehcnologiai_telephely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D3FF00D-6027-A3D4-FB18-895C469BC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1" y="1222455"/>
            <a:ext cx="5362578" cy="372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457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B831FC-FAF5-515B-F648-619C65DD1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Szeged Titkárság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92D54EC-50EE-2B43-EF38-AD74CEAC3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648" y="1286909"/>
            <a:ext cx="7452704" cy="309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576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E35948DF-BCFB-616E-0398-60BF0321D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91BAE27-5123-936B-B04A-4A78C9C86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F86F872-FAB8-D242-89AC-0325671BA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Home Office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9837AA3-4ABD-FA96-B958-BF166D0ED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9422" y="1120040"/>
            <a:ext cx="6005156" cy="363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06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CE5E02E-86F5-256E-4189-1876630AE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E683FF-03FA-BC0F-2E13-3426A4705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642720A-C98F-FFA1-4FF6-E2D4FECB2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STP</a:t>
            </a:r>
          </a:p>
        </p:txBody>
      </p:sp>
      <p:sp>
        <p:nvSpPr>
          <p:cNvPr id="3" name="Cím 1">
            <a:extLst>
              <a:ext uri="{FF2B5EF4-FFF2-40B4-BE49-F238E27FC236}">
                <a16:creationId xmlns:a16="http://schemas.microsoft.com/office/drawing/2014/main" id="{A4FE8641-6C57-E1B3-93BA-CC31E0E5ED43}"/>
              </a:ext>
            </a:extLst>
          </p:cNvPr>
          <p:cNvSpPr txBox="1">
            <a:spLocks/>
          </p:cNvSpPr>
          <p:nvPr/>
        </p:nvSpPr>
        <p:spPr>
          <a:xfrm>
            <a:off x="720000" y="1345906"/>
            <a:ext cx="7895756" cy="2139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BPDU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Designated</a:t>
            </a:r>
            <a:r>
              <a:rPr lang="hu-HU" dirty="0"/>
              <a:t> port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</a:t>
            </a:r>
          </a:p>
        </p:txBody>
      </p:sp>
    </p:spTree>
    <p:extLst>
      <p:ext uri="{BB962C8B-B14F-4D97-AF65-F5344CB8AC3E}">
        <p14:creationId xmlns:p14="http://schemas.microsoft.com/office/powerpoint/2010/main" val="12941770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7AF9CFF-F626-CF45-B06E-40E4A224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500CCCF5-A0E5-3D41-2692-1990938FF497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endParaRPr lang="hu-HU" sz="2800" dirty="0" err="1">
              <a:solidFill>
                <a:schemeClr val="dk1"/>
              </a:solidFill>
              <a:latin typeface="Space Grotesk"/>
              <a:cs typeface="Space Grotesk"/>
            </a:endParaRPr>
          </a:p>
        </p:txBody>
      </p: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B9E335B-B969-02C5-B2BB-76B55DE6D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717A0ED-37F7-9931-E958-77CFDC882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Etherchannel</a:t>
            </a:r>
            <a:endParaRPr lang="hu-HU" dirty="0"/>
          </a:p>
        </p:txBody>
      </p:sp>
      <p:sp>
        <p:nvSpPr>
          <p:cNvPr id="3" name="Cím 1">
            <a:extLst>
              <a:ext uri="{FF2B5EF4-FFF2-40B4-BE49-F238E27FC236}">
                <a16:creationId xmlns:a16="http://schemas.microsoft.com/office/drawing/2014/main" id="{C28CEB96-B61D-9136-0B8A-7F9E860BF18A}"/>
              </a:ext>
            </a:extLst>
          </p:cNvPr>
          <p:cNvSpPr txBox="1">
            <a:spLocks/>
          </p:cNvSpPr>
          <p:nvPr/>
        </p:nvSpPr>
        <p:spPr>
          <a:xfrm>
            <a:off x="719999" y="1353747"/>
            <a:ext cx="7825859" cy="247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Aktív mód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Load</a:t>
            </a:r>
            <a:r>
              <a:rPr lang="hu-HU" dirty="0"/>
              <a:t> </a:t>
            </a:r>
            <a:r>
              <a:rPr lang="hu-HU" dirty="0" err="1"/>
              <a:t>balancing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Port-</a:t>
            </a:r>
            <a:r>
              <a:rPr lang="hu-HU" dirty="0" err="1"/>
              <a:t>channelek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LACP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45146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8A17352-94FD-12F4-6700-C01EBC0C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C7ED316-444C-DEE0-5390-1A92C83E6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EF7F8AB-060D-955D-E31A-4C835C98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VLAN</a:t>
            </a:r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9DB66D20-BFA2-0415-4BFD-BA631FDB8779}"/>
              </a:ext>
            </a:extLst>
          </p:cNvPr>
          <p:cNvSpPr txBox="1">
            <a:spLocks/>
          </p:cNvSpPr>
          <p:nvPr/>
        </p:nvSpPr>
        <p:spPr>
          <a:xfrm>
            <a:off x="720000" y="1353695"/>
            <a:ext cx="7832734" cy="3073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Logikai alhálózatok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Virtual</a:t>
            </a:r>
            <a:r>
              <a:rPr lang="hu-HU" dirty="0"/>
              <a:t> Local </a:t>
            </a:r>
            <a:r>
              <a:rPr lang="hu-HU" dirty="0" err="1"/>
              <a:t>Area</a:t>
            </a:r>
            <a:r>
              <a:rPr lang="hu-HU" dirty="0"/>
              <a:t> Network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Biztonságos elkülönítés </a:t>
            </a:r>
          </a:p>
        </p:txBody>
      </p:sp>
    </p:spTree>
    <p:extLst>
      <p:ext uri="{BB962C8B-B14F-4D97-AF65-F5344CB8AC3E}">
        <p14:creationId xmlns:p14="http://schemas.microsoft.com/office/powerpoint/2010/main" val="3351153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C89C28A5-2A82-8020-EA08-3F3F7147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F174183-9E48-B530-797A-B934A91E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CEEAFD1-47BF-2D85-D3A2-79BED8687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Multi-</a:t>
            </a:r>
            <a:r>
              <a:rPr lang="hu-HU" dirty="0" err="1"/>
              <a:t>Area</a:t>
            </a:r>
            <a:r>
              <a:rPr lang="hu-HU" dirty="0"/>
              <a:t> OSPF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F6FE7362-9CB9-1CBB-6454-12B0AB185212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Link-</a:t>
            </a:r>
            <a:r>
              <a:rPr lang="hu-HU" dirty="0" err="1"/>
              <a:t>state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IGP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SPF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ABR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LSDB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DR/BDR – Router ID</a:t>
            </a:r>
          </a:p>
        </p:txBody>
      </p:sp>
    </p:spTree>
    <p:extLst>
      <p:ext uri="{BB962C8B-B14F-4D97-AF65-F5344CB8AC3E}">
        <p14:creationId xmlns:p14="http://schemas.microsoft.com/office/powerpoint/2010/main" val="3410804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700829A-DEB6-DB0E-1B24-78C271389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054D565-7EDA-FAC7-5440-F3CD319D1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6A7DC5C-D704-BCC8-1589-38D149470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SSH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8699472-C614-99A3-6211-6FACF5AA3E8F}"/>
              </a:ext>
            </a:extLst>
          </p:cNvPr>
          <p:cNvSpPr txBox="1">
            <a:spLocks/>
          </p:cNvSpPr>
          <p:nvPr/>
        </p:nvSpPr>
        <p:spPr>
          <a:xfrm>
            <a:off x="720000" y="133994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Jelszó/kulcspár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Titkosított kommunikáció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Távoli elérés</a:t>
            </a:r>
          </a:p>
        </p:txBody>
      </p:sp>
    </p:spTree>
    <p:extLst>
      <p:ext uri="{BB962C8B-B14F-4D97-AF65-F5344CB8AC3E}">
        <p14:creationId xmlns:p14="http://schemas.microsoft.com/office/powerpoint/2010/main" val="2496555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C4E0C68-1911-371E-092B-72A7EB59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E79DD62-EC13-3618-10FF-5EEBF9DA3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D248469-9ADD-23D3-7A26-D7657AD8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Multilayer</a:t>
            </a:r>
            <a:r>
              <a:rPr lang="hu-HU" dirty="0"/>
              <a:t> </a:t>
            </a:r>
            <a:r>
              <a:rPr lang="hu-HU" dirty="0" err="1"/>
              <a:t>Switch</a:t>
            </a:r>
            <a:r>
              <a:rPr lang="hu-HU" dirty="0"/>
              <a:t>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23F863E5-16A5-05D3-DE6E-3FCB6F367F9E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Inter</a:t>
            </a:r>
            <a:r>
              <a:rPr lang="hu-HU" dirty="0"/>
              <a:t>-VLAN </a:t>
            </a:r>
            <a:r>
              <a:rPr lang="hu-HU" dirty="0" err="1"/>
              <a:t>Routing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SVI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MAC-címek</a:t>
            </a:r>
          </a:p>
        </p:txBody>
      </p:sp>
    </p:spTree>
    <p:extLst>
      <p:ext uri="{BB962C8B-B14F-4D97-AF65-F5344CB8AC3E}">
        <p14:creationId xmlns:p14="http://schemas.microsoft.com/office/powerpoint/2010/main" val="2240598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8408DF8-E231-6FD4-9691-89BD6257C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A240F8F-42F8-908E-2430-61C024052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4E6B660-DC1F-4132-7035-1740F781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RADIUS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E2A95896-8D9A-7B9C-33B9-8A869F6FAB55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Remote</a:t>
            </a:r>
            <a:r>
              <a:rPr lang="hu-HU" dirty="0"/>
              <a:t> </a:t>
            </a:r>
            <a:r>
              <a:rPr lang="hu-HU" dirty="0" err="1"/>
              <a:t>Authentication</a:t>
            </a:r>
            <a:r>
              <a:rPr lang="hu-HU" dirty="0"/>
              <a:t> </a:t>
            </a:r>
            <a:r>
              <a:rPr lang="hu-HU" dirty="0" err="1"/>
              <a:t>Dial</a:t>
            </a:r>
            <a:r>
              <a:rPr lang="hu-HU" dirty="0"/>
              <a:t>-In </a:t>
            </a:r>
            <a:r>
              <a:rPr lang="hu-HU" dirty="0" err="1"/>
              <a:t>User</a:t>
            </a:r>
            <a:r>
              <a:rPr lang="hu-HU" dirty="0"/>
              <a:t> Service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AAA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Központi hitelesítés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VTY vonalak </a:t>
            </a:r>
          </a:p>
        </p:txBody>
      </p:sp>
    </p:spTree>
    <p:extLst>
      <p:ext uri="{BB962C8B-B14F-4D97-AF65-F5344CB8AC3E}">
        <p14:creationId xmlns:p14="http://schemas.microsoft.com/office/powerpoint/2010/main" val="3737051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5E9D7185-3E94-69AD-7DC6-D8AC04DF3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DC8C22-D1DE-C6D4-D288-80799159C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F4030CA-EE59-0081-3F00-60B63964B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NTP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11129EF-1B33-F617-183D-7328C7034A7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Időszinkronizálás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Időbélyegek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Ismétlődő folyamat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Hitelesítési kulcs</a:t>
            </a:r>
          </a:p>
        </p:txBody>
      </p:sp>
    </p:spTree>
    <p:extLst>
      <p:ext uri="{BB962C8B-B14F-4D97-AF65-F5344CB8AC3E}">
        <p14:creationId xmlns:p14="http://schemas.microsoft.com/office/powerpoint/2010/main" val="1440902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8CD524E-2B52-A79D-BE17-5BC3A634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892D9C-709C-6FBC-3AED-4ADF32152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323817-72BE-F1A4-9C9C-907D89F08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SYSLOG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2E08F066-4FBC-20C6-E39C-BD83CD4CD33F}"/>
              </a:ext>
            </a:extLst>
          </p:cNvPr>
          <p:cNvSpPr txBox="1">
            <a:spLocks/>
          </p:cNvSpPr>
          <p:nvPr/>
        </p:nvSpPr>
        <p:spPr>
          <a:xfrm>
            <a:off x="720000" y="133306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Naplógyüjtő</a:t>
            </a:r>
            <a:r>
              <a:rPr lang="hu-HU" dirty="0"/>
              <a:t> rendszer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Risztások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Log információk</a:t>
            </a:r>
          </a:p>
        </p:txBody>
      </p:sp>
    </p:spTree>
    <p:extLst>
      <p:ext uri="{BB962C8B-B14F-4D97-AF65-F5344CB8AC3E}">
        <p14:creationId xmlns:p14="http://schemas.microsoft.com/office/powerpoint/2010/main" val="2470819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9BCC4AF-9F94-F029-4F10-ACF7F283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6E4E10A-54CB-F5AD-13E1-0BCE59D68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57A811B-BC4D-8FE9-16F6-C0EE3CC0E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WRT300N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320598E-F6ED-66C8-2044-E6023F072857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Wireless</a:t>
            </a:r>
            <a:r>
              <a:rPr lang="hu-HU" dirty="0"/>
              <a:t>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Router és </a:t>
            </a:r>
            <a:r>
              <a:rPr lang="hu-HU" dirty="0" err="1"/>
              <a:t>Switch</a:t>
            </a:r>
            <a:r>
              <a:rPr lang="hu-HU" dirty="0"/>
              <a:t> egyben</a:t>
            </a:r>
          </a:p>
        </p:txBody>
      </p:sp>
    </p:spTree>
    <p:extLst>
      <p:ext uri="{BB962C8B-B14F-4D97-AF65-F5344CB8AC3E}">
        <p14:creationId xmlns:p14="http://schemas.microsoft.com/office/powerpoint/2010/main" val="2910400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2CE50F6-5EA6-8343-2FBB-508CCD770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B61AC2E-70DA-D14F-4E8A-F9FCDFE9E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21699BAE-4FA4-453F-3795-E2BBC40F7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ASA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3A40C8-ECF2-9FFA-A054-250BC484ACF0}"/>
              </a:ext>
            </a:extLst>
          </p:cNvPr>
          <p:cNvSpPr txBox="1">
            <a:spLocks/>
          </p:cNvSpPr>
          <p:nvPr/>
        </p:nvSpPr>
        <p:spPr>
          <a:xfrm>
            <a:off x="720000" y="1346818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Tűzfal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Security</a:t>
            </a:r>
            <a:r>
              <a:rPr lang="hu-HU" dirty="0"/>
              <a:t> levelek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Csomagvizsgálat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Zónák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2886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CD381235-9D7F-A42E-4591-FB4362C95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E1A9D1F-D32B-A9A1-2500-15CF75E9B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E23C8-B58B-B042-B8A7-A7338E20D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ACL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D7F3486A-3ED6-65B9-7421-9C6041E23994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Access </a:t>
            </a:r>
            <a:r>
              <a:rPr lang="hu-HU" dirty="0" err="1"/>
              <a:t>Control</a:t>
            </a:r>
            <a:r>
              <a:rPr lang="hu-HU" dirty="0"/>
              <a:t> List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Forrás-célcímek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Forgalomszűrés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Standard/</a:t>
            </a:r>
            <a:r>
              <a:rPr lang="hu-HU" dirty="0" err="1"/>
              <a:t>extended</a:t>
            </a:r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3011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91E260D0-1D5A-66B1-DC98-222E0F760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2303B5-0A9A-BFEF-594F-873C05982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2526F53-54A0-6A46-5512-567263C1A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HSRP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0DB49B-AA50-041F-274E-5BCCB51D99F7}"/>
              </a:ext>
            </a:extLst>
          </p:cNvPr>
          <p:cNvSpPr txBox="1">
            <a:spLocks/>
          </p:cNvSpPr>
          <p:nvPr/>
        </p:nvSpPr>
        <p:spPr>
          <a:xfrm>
            <a:off x="720000" y="134681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Virtuális </a:t>
            </a:r>
            <a:r>
              <a:rPr lang="hu-HU" dirty="0" err="1"/>
              <a:t>gateway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Aktív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Standby</a:t>
            </a:r>
            <a:r>
              <a:rPr lang="hu-HU" dirty="0"/>
              <a:t>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Priorítás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Preempt</a:t>
            </a:r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5288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B8883CA-572F-5A56-3957-A9CD0654A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4AA279-968D-4EA9-87F5-D13F25533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A248C82-047A-C0DE-7AC1-ED7BC5FD9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PAT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337729-6BFE-8837-CFDA-1C4D8C1BCC90}"/>
              </a:ext>
            </a:extLst>
          </p:cNvPr>
          <p:cNvSpPr txBox="1">
            <a:spLocks/>
          </p:cNvSpPr>
          <p:nvPr/>
        </p:nvSpPr>
        <p:spPr>
          <a:xfrm>
            <a:off x="720000" y="1367444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Inside</a:t>
            </a:r>
            <a:r>
              <a:rPr lang="hu-HU" dirty="0"/>
              <a:t> </a:t>
            </a:r>
            <a:r>
              <a:rPr lang="hu-HU" dirty="0" err="1"/>
              <a:t>global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Inside</a:t>
            </a:r>
            <a:r>
              <a:rPr lang="hu-HU" dirty="0"/>
              <a:t> local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Egy </a:t>
            </a:r>
            <a:r>
              <a:rPr lang="hu-HU" dirty="0" err="1"/>
              <a:t>publik</a:t>
            </a:r>
            <a:r>
              <a:rPr lang="hu-HU" dirty="0"/>
              <a:t> cím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Portszám</a:t>
            </a:r>
            <a:r>
              <a:rPr lang="hu-HU" dirty="0"/>
              <a:t> azonosítás </a:t>
            </a:r>
          </a:p>
        </p:txBody>
      </p:sp>
    </p:spTree>
    <p:extLst>
      <p:ext uri="{BB962C8B-B14F-4D97-AF65-F5344CB8AC3E}">
        <p14:creationId xmlns:p14="http://schemas.microsoft.com/office/powerpoint/2010/main" val="3274715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537CAD44-7450-659A-BF7F-EDC8566F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F2B19E8-3F6B-51A3-3617-6481D90F8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7F0A91C-BE6D-C1D9-CBDD-B968DA4F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Port-</a:t>
            </a:r>
            <a:r>
              <a:rPr lang="hu-HU" dirty="0" err="1"/>
              <a:t>Security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74D8B19-541B-0501-D7AA-11B07298D652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MAC-címek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Jogosulatlanok korlátozása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Violation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Sticky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Manuális helyreállítás</a:t>
            </a:r>
          </a:p>
        </p:txBody>
      </p:sp>
    </p:spTree>
    <p:extLst>
      <p:ext uri="{BB962C8B-B14F-4D97-AF65-F5344CB8AC3E}">
        <p14:creationId xmlns:p14="http://schemas.microsoft.com/office/powerpoint/2010/main" val="172910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D40F4FD-3DDA-8555-7818-9D6856CA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C8FD9DE-4C71-70B7-9561-6B52FD6EF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E4E20E9-3A4F-A0F5-D236-7C7C0EF60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VTP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A51EB1AA-42C4-790C-1296-6690C60F2449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VTP </a:t>
            </a:r>
            <a:r>
              <a:rPr lang="hu-HU" dirty="0" err="1"/>
              <a:t>domain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Server, </a:t>
            </a:r>
            <a:r>
              <a:rPr lang="hu-HU" dirty="0" err="1"/>
              <a:t>Client</a:t>
            </a:r>
            <a:r>
              <a:rPr lang="hu-HU" dirty="0"/>
              <a:t>, </a:t>
            </a:r>
            <a:r>
              <a:rPr lang="hu-HU" dirty="0" err="1"/>
              <a:t>Transparent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VLAN-ok központi kezelése </a:t>
            </a:r>
          </a:p>
        </p:txBody>
      </p:sp>
    </p:spTree>
    <p:extLst>
      <p:ext uri="{BB962C8B-B14F-4D97-AF65-F5344CB8AC3E}">
        <p14:creationId xmlns:p14="http://schemas.microsoft.com/office/powerpoint/2010/main" val="22777822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0F95AA4-BD90-17AF-7ED6-5D48BF8E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5DE6542-8088-0460-752B-680A40562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33EB658-6693-7834-004D-F947B30CD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DHCP </a:t>
            </a:r>
            <a:r>
              <a:rPr lang="hu-HU" dirty="0" err="1"/>
              <a:t>Snooping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35296068-37B4-F60B-B268-035A68B8612A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Rouge DHCP szerverek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Trusted</a:t>
            </a:r>
            <a:r>
              <a:rPr lang="hu-HU" dirty="0"/>
              <a:t>/</a:t>
            </a:r>
            <a:r>
              <a:rPr lang="hu-HU" dirty="0" err="1"/>
              <a:t>untrusted</a:t>
            </a:r>
            <a:r>
              <a:rPr lang="hu-HU" dirty="0"/>
              <a:t> portok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Rate</a:t>
            </a:r>
            <a:r>
              <a:rPr lang="hu-HU" dirty="0"/>
              <a:t> limit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43001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9B5DDE3-5F10-A02D-8408-047AB86F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9A90351-ED6A-4103-20AB-610B23B5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02736F5-5B4A-46E6-49DF-4E0FB4047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GRE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D3761A9B-2252-4F17-1669-918FF2B0206E}"/>
              </a:ext>
            </a:extLst>
          </p:cNvPr>
          <p:cNvSpPr txBox="1">
            <a:spLocks/>
          </p:cNvSpPr>
          <p:nvPr/>
        </p:nvSpPr>
        <p:spPr>
          <a:xfrm>
            <a:off x="720000" y="1360568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Pont-pont kapcsolat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kapszulázásból</a:t>
            </a:r>
            <a:r>
              <a:rPr lang="hu-HU" dirty="0"/>
              <a:t> és </a:t>
            </a:r>
            <a:r>
              <a:rPr lang="hu-HU" dirty="0" err="1"/>
              <a:t>dekapszulázás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GRE-fejléc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Tunnel</a:t>
            </a:r>
            <a:r>
              <a:rPr lang="hu-HU" dirty="0"/>
              <a:t> cím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90355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5B9AEB4-96CC-7693-F29D-C171BBE7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D0AC82-863B-BB1E-1345-1B6F99503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0A6D1E5-F1D1-2991-1318-CBCACA24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DHCP </a:t>
            </a:r>
            <a:r>
              <a:rPr lang="hu-HU" dirty="0" err="1"/>
              <a:t>Relay-Agent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A93DCEC7-767C-E31B-CB67-49B903B3E581}"/>
              </a:ext>
            </a:extLst>
          </p:cNvPr>
          <p:cNvSpPr txBox="1">
            <a:spLocks/>
          </p:cNvSpPr>
          <p:nvPr/>
        </p:nvSpPr>
        <p:spPr>
          <a:xfrm>
            <a:off x="664998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Más hálózat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Broadcast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Unicast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Ip</a:t>
            </a:r>
            <a:r>
              <a:rPr lang="hu-HU" dirty="0"/>
              <a:t>-fejléc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24550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5456805-F5C2-4F86-E98A-DB8F7B6BB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19F9A24-0DF2-D588-192F-685157D66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4288B3B-7FFC-1E81-4633-154D29006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AccessPoint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6A0760B-CF8E-4AC2-1DA6-9A3F3D6707F6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Vezeték nélküli hozzáférési pont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Wifi szabályok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Vezetékesen vezeték nélkül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Híd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37183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29250A3-F81C-9A16-992F-B28AD4BD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79EC304-75B7-DA28-F25E-D5D80EF6B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991681B-1A11-AD09-BBB7-3E13CD741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OSPFv2 OSPFv3 és IPv6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236CFC7-1361-BFBC-DF46-18CAE2AB903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interfészen külön engedélyezni kell a protokollt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Link-lokál cím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Area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Dual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 – gyors konvergencia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Zökkenőmentes átállás</a:t>
            </a:r>
          </a:p>
        </p:txBody>
      </p:sp>
    </p:spTree>
    <p:extLst>
      <p:ext uri="{BB962C8B-B14F-4D97-AF65-F5344CB8AC3E}">
        <p14:creationId xmlns:p14="http://schemas.microsoft.com/office/powerpoint/2010/main" val="14752262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DCEB55D-ABC7-4B0C-FA3C-B5531AEA8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3A62780-01AE-2459-3BC9-173A60C7B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9E06BE-D0F6-2BBD-7D93-AF83A5CE3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VoIP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65D9C107-3998-E63A-4137-BE027C692AEE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Hang és adatforgalom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Hang digitális csomagjai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Belső hívások teljesen ingyenesek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Bővéthető rendszer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TFTP szerver</a:t>
            </a:r>
          </a:p>
        </p:txBody>
      </p:sp>
    </p:spTree>
    <p:extLst>
      <p:ext uri="{BB962C8B-B14F-4D97-AF65-F5344CB8AC3E}">
        <p14:creationId xmlns:p14="http://schemas.microsoft.com/office/powerpoint/2010/main" val="1977300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D4C97BE-194F-AF0D-E56C-349896F6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7977A64-244C-00F2-D00A-18CBDFED6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C229DF-DC53-416D-E40E-AA9BC8951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TFTP szerver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F505DDD4-D904-BB2D-EEE2-DFA79BAC5DC0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UDP – fájlátvitel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Központi </a:t>
            </a:r>
            <a:r>
              <a:rPr lang="hu-HU" dirty="0" err="1"/>
              <a:t>konfigok</a:t>
            </a:r>
            <a:r>
              <a:rPr lang="hu-HU" dirty="0"/>
              <a:t> mentése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PNETLab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Ubuntu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0794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E960091-EB00-7214-478F-E5DF6FF6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F199CEC-C12B-90CA-BCE2-2A780C9D9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92A394E-36C7-A7BE-14B4-83ADC8FF0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OSPF cost érték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375E5635-F61E-14BE-3D00-0E3E9B941E0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Kisebb = jobb útvonal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Terheléselosztás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05734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481F452-81D0-4424-7557-8910A4943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156C7E7-ACB3-2DCE-C6EA-A723AE33F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3019FB7-C449-D543-B7D5-5175945FF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CHAP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0FFA6D9C-F095-1DEC-8EF3-919DFC7FF506}"/>
              </a:ext>
            </a:extLst>
          </p:cNvPr>
          <p:cNvSpPr txBox="1">
            <a:spLocks/>
          </p:cNvSpPr>
          <p:nvPr/>
        </p:nvSpPr>
        <p:spPr>
          <a:xfrm>
            <a:off x="720000" y="134681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PPP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Kétirányú hitelesítés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Háromlépcsős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Hashelt</a:t>
            </a:r>
            <a:r>
              <a:rPr lang="hu-HU" dirty="0"/>
              <a:t> jelszó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OSPF kommunikáció biztosítása </a:t>
            </a:r>
          </a:p>
        </p:txBody>
      </p:sp>
    </p:spTree>
    <p:extLst>
      <p:ext uri="{BB962C8B-B14F-4D97-AF65-F5344CB8AC3E}">
        <p14:creationId xmlns:p14="http://schemas.microsoft.com/office/powerpoint/2010/main" val="6108653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7C73F7A-7DF7-7BA6-93B5-2B0DF9E7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6780D2A-89AC-5037-4296-05C41A414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289E52F2-D170-96C3-EB6F-F2DAA8CD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VLAN1 hatástalanítás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0A3FC1B-96FC-0E59-20F2-7327477C1603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Biztonsági kockázat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Native</a:t>
            </a:r>
            <a:r>
              <a:rPr lang="hu-HU" dirty="0"/>
              <a:t> VLAN támadások elleni védelem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Hálózati szegmentáció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Best </a:t>
            </a:r>
            <a:r>
              <a:rPr lang="hu-HU" dirty="0" err="1"/>
              <a:t>practice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80564163"/>
      </p:ext>
    </p:extLst>
  </p:cSld>
  <p:clrMapOvr>
    <a:masterClrMapping/>
  </p:clrMapOvr>
</p:sld>
</file>

<file path=ppt/theme/theme1.xml><?xml version="1.0" encoding="utf-8"?>
<a:theme xmlns:a="http://schemas.openxmlformats.org/drawingml/2006/main" name="Data Migration Project Proposal by Slidesgo">
  <a:themeElements>
    <a:clrScheme name="Simple Light">
      <a:dk1>
        <a:srgbClr val="241160"/>
      </a:dk1>
      <a:lt1>
        <a:srgbClr val="FFFFFF"/>
      </a:lt1>
      <a:dk2>
        <a:srgbClr val="E2E4FC"/>
      </a:dk2>
      <a:lt2>
        <a:srgbClr val="8861F1"/>
      </a:lt2>
      <a:accent1>
        <a:srgbClr val="545EEA"/>
      </a:accent1>
      <a:accent2>
        <a:srgbClr val="0B9CDC"/>
      </a:accent2>
      <a:accent3>
        <a:srgbClr val="01CFE6"/>
      </a:accent3>
      <a:accent4>
        <a:srgbClr val="FFFFFF"/>
      </a:accent4>
      <a:accent5>
        <a:srgbClr val="FFFFFF"/>
      </a:accent5>
      <a:accent6>
        <a:srgbClr val="FFFFFF"/>
      </a:accent6>
      <a:hlink>
        <a:srgbClr val="24116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457</Words>
  <Application>Microsoft Office PowerPoint</Application>
  <PresentationFormat>Diavetítés a képernyőre (16:9 oldalarány)</PresentationFormat>
  <Paragraphs>184</Paragraphs>
  <Slides>40</Slides>
  <Notes>37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8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Open Sans</vt:lpstr>
      <vt:lpstr>Space Grotesk Medium</vt:lpstr>
      <vt:lpstr>Nunito Light</vt:lpstr>
      <vt:lpstr>Raleway</vt:lpstr>
      <vt:lpstr>Arial</vt:lpstr>
      <vt:lpstr>Cairo</vt:lpstr>
      <vt:lpstr>Anaheim</vt:lpstr>
      <vt:lpstr>Space Grotesk</vt:lpstr>
      <vt:lpstr>Data Migration Project Proposal by Slidesgo</vt:lpstr>
      <vt:lpstr>Telekom hálózata</vt:lpstr>
      <vt:lpstr>A csapat tagjai :</vt:lpstr>
      <vt:lpstr>Horváth Márk</vt:lpstr>
      <vt:lpstr>Braun Dénes</vt:lpstr>
      <vt:lpstr>Tőzsér Barnabás</vt:lpstr>
      <vt:lpstr>Szolgáltatásaink:</vt:lpstr>
      <vt:lpstr>Megbízás:</vt:lpstr>
      <vt:lpstr>Topológia</vt:lpstr>
      <vt:lpstr>PowerPoint-bemutató</vt:lpstr>
      <vt:lpstr>PowerPoint-bemutató</vt:lpstr>
      <vt:lpstr>Debrecen</vt:lpstr>
      <vt:lpstr>Szeged_tehcnologiai_telephely</vt:lpstr>
      <vt:lpstr>Szeged Titkárság</vt:lpstr>
      <vt:lpstr>Home Office</vt:lpstr>
      <vt:lpstr>STP</vt:lpstr>
      <vt:lpstr>Etherchannel</vt:lpstr>
      <vt:lpstr>VLAN</vt:lpstr>
      <vt:lpstr>Multi-Area OSPF</vt:lpstr>
      <vt:lpstr>SSH</vt:lpstr>
      <vt:lpstr>Multilayer Switch </vt:lpstr>
      <vt:lpstr>RADIUS</vt:lpstr>
      <vt:lpstr>NTP</vt:lpstr>
      <vt:lpstr>SYSLOG </vt:lpstr>
      <vt:lpstr>WRT300N</vt:lpstr>
      <vt:lpstr>ASA</vt:lpstr>
      <vt:lpstr>ACL </vt:lpstr>
      <vt:lpstr>HSRP</vt:lpstr>
      <vt:lpstr>PAT </vt:lpstr>
      <vt:lpstr>Port-Security</vt:lpstr>
      <vt:lpstr>VTP</vt:lpstr>
      <vt:lpstr>DHCP Snooping</vt:lpstr>
      <vt:lpstr>GRE </vt:lpstr>
      <vt:lpstr>DHCP Relay-Agent</vt:lpstr>
      <vt:lpstr>AccessPoint</vt:lpstr>
      <vt:lpstr>OSPFv2 OSPFv3 és IPv6</vt:lpstr>
      <vt:lpstr>VoIP</vt:lpstr>
      <vt:lpstr>TFTP szerver </vt:lpstr>
      <vt:lpstr>OSPF cost érték</vt:lpstr>
      <vt:lpstr>CHAP</vt:lpstr>
      <vt:lpstr>VLAN1 hatástalanítás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Barnabás</dc:creator>
  <cp:lastModifiedBy>Barnabás Tőzsér</cp:lastModifiedBy>
  <cp:revision>30</cp:revision>
  <dcterms:modified xsi:type="dcterms:W3CDTF">2026-05-01T10:59:12Z</dcterms:modified>
</cp:coreProperties>
</file>